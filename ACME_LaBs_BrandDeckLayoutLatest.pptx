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8" r:id="rId2"/>
    <p:sldId id="281" r:id="rId3"/>
    <p:sldId id="265" r:id="rId4"/>
    <p:sldId id="266" r:id="rId5"/>
    <p:sldId id="282" r:id="rId6"/>
    <p:sldId id="269" r:id="rId7"/>
    <p:sldId id="28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" y="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A2332"/>
                </a:solidFill>
                <a:latin typeface="Poppins"/>
              </a:defRPr>
            </a:pPr>
            <a:r>
              <a:rPr lang="en-US" sz="1600" b="1" dirty="0">
                <a:solidFill>
                  <a:srgbClr val="1A2332"/>
                </a:solidFill>
                <a:latin typeface="Poppins"/>
              </a:rPr>
              <a:t>Annual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Revenue ($M)</c:v>
          </c:tx>
          <c:spPr>
            <a:solidFill>
              <a:srgbClr val="2E86C1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4A5568"/>
                    </a:solidFill>
                    <a:latin typeface="Source Sans Pr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12</c:v>
              </c:pt>
              <c:pt idx="1">
                <c:v>18</c:v>
              </c:pt>
              <c:pt idx="2">
                <c:v>28</c:v>
              </c:pt>
              <c:pt idx="3">
                <c:v>42</c:v>
              </c:pt>
              <c:pt idx="4">
                <c:v>58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5D5-4720-BBE9-6B0ECC000A87}"/>
            </c:ext>
          </c:extLst>
        </c:ser>
        <c:ser>
          <c:idx val="1"/>
          <c:order val="1"/>
          <c:tx>
            <c:v>Projects</c:v>
          </c:tx>
          <c:spPr>
            <a:solidFill>
              <a:srgbClr val="0ABDA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4A5568"/>
                    </a:solidFill>
                    <a:latin typeface="Source Sans Pr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45</c:v>
              </c:pt>
              <c:pt idx="1">
                <c:v>68</c:v>
              </c:pt>
              <c:pt idx="2">
                <c:v>85</c:v>
              </c:pt>
              <c:pt idx="3">
                <c:v>110</c:v>
              </c:pt>
              <c:pt idx="4">
                <c:v>142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5D5-4720-BBE9-6B0ECC000A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4A5568"/>
                </a:solidFill>
                <a:latin typeface="Source Sans Pro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5568"/>
                </a:solidFill>
                <a:latin typeface="Source Sans Pro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4A5568"/>
              </a:solidFill>
              <a:latin typeface="Source Sans Pro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FA206-68AD-0833-4512-B8299CAF7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58A19C-0E0C-F6EE-23D7-ED7627F26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4D4E9-85BF-17AE-49C9-5EDCECE2D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1A845-418E-4341-0F5C-1C99DF0F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294CE-EBBF-5216-3F72-EF7E56BF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40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7E73-CE93-D781-1870-57A2A3A0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7A721-3A20-D7B5-4AD7-5908364BA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79061-0EBF-52AF-E859-68E26FFB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964F9-FE4D-FBF4-C47B-463AF5D6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CAB0E-5487-D5DB-8D29-FD71CF85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21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700F-291E-22FB-5D5A-C2056A68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F3513-D96D-3F5D-3925-20232536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BDF52-A770-D503-01A3-729397D45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397A2-8F2A-7DAD-C6D6-37BBD206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FF2FE-20C4-26F9-529B-4454EE53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77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161B-5240-C3E5-671C-7F4820DF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453DF-A15F-F053-0A14-64C4FBFF3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BEB04-704D-AB65-41CA-52AE5BABA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4B3A0-2AC5-0E8E-4FE4-E66988A2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95285-4177-6301-A1DE-CDC0FD13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9465D-AF62-871F-BA35-4F749D75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36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4ACD-4458-9FBA-2AF8-9D536FAA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D051A-4F95-2E76-A8E3-61A6928B4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EBF92-ECC6-457A-1EDA-B3C96D838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96C03-5718-DFF3-1A4D-9386B743D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C2D49F-905C-4190-0664-D7CBE56CA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8316F6-F2D1-76EE-A864-A57D6BFF8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0BF5EC-DD1B-2CEA-6AED-48F665A8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6C9202-2BE5-5E3A-707F-4A845B33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53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1F09-28FB-0F47-09E5-BD83C8E6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97040-9BC6-B8F1-194D-1C25CEB7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B78B1-628C-A87A-07EC-ED7DE90C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48F02-9855-5A5D-C2C5-6BF963DF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84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1151F-FDF5-8525-E381-C4EB29EC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0E209-0D29-AB52-CEC8-D4A3903A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FA205-CD9E-C9F1-8DE1-5C301599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23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8B33-C072-1939-F567-80325A35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60610-5642-DA5E-5EB8-2E665DD3C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28155-214C-E75B-99B1-0CE3BF951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0904F-D39A-128D-2A0B-B280A959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E9449-628B-8A29-7533-FD9B7732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4FE4F-D446-5DE3-9E33-4EBBED04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04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AAA27-716D-4C4E-C872-408C87FE2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071BC-30B3-7B15-51F3-D0CA2941B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6FA14-0B64-17AD-F58F-A65CE1093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026B9-1622-2802-C210-218131EF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21752-0CA3-09A2-A4A1-C060154A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AF962-B850-0849-7227-BA358039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24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3761-C1E4-03C6-7D45-778F90D3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81521-6DBA-B0EC-89E1-F759207C3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1140C-7C6F-C677-A6B2-70CE82A7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80FA5-C80E-97F4-8C5C-C002B51E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50AF8-06D2-40AB-43B8-C614C8FC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35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5549A0-F1B2-F656-9A45-A0BA7E3AE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38491-FB3D-99F8-DE9D-B8E18CD29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3420-33D0-D2B0-F541-EFAA07B7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F519E-D786-B66F-B35E-1385D09C3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4AB2D-4DEA-A191-2993-E8BFF2A0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24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BED3C-EBF0-01CB-C3C5-FDFD07A15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1BF97-1DB8-E6B3-BA34-D8043D460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E7FC-FB61-0853-2937-2E7DCFDB4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A2888-883B-45EB-B787-D5BBAC3A2A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C1ABE-E9F6-1AD7-F7A6-DF1225B26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2A5E-B8F9-3EDA-7F74-0EDF58C41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DF464-2AE9-441E-AD5C-8A819296C40D}" type="slidenum">
              <a:rPr lang="en-GB" smtClean="0"/>
              <a:t>‹#›</a:t>
            </a:fld>
            <a:endParaRPr lang="en-GB"/>
          </a:p>
        </p:txBody>
      </p:sp>
      <p:sp>
        <p:nvSpPr>
          <p:cNvPr id="901" name="GradientLine"/>
          <p:cNvSpPr/>
          <p:nvPr userDrawn="1"/>
        </p:nvSpPr>
        <p:spPr>
          <a:xfrm>
            <a:off x="0" y="6766560"/>
            <a:ext cx="12192000" cy="27432"/>
          </a:xfrm>
          <a:prstGeom prst="rect">
            <a:avLst/>
          </a:prstGeom>
          <a:gradFill>
            <a:gsLst>
              <a:gs pos="0">
                <a:srgbClr val="2E86C1"/>
              </a:gs>
              <a:gs pos="60000">
                <a:srgbClr val="0ABDA0"/>
              </a:gs>
              <a:gs pos="100000">
                <a:srgbClr val="6C5CE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" name="Dot0"/>
          <p:cNvSpPr/>
          <p:nvPr userDrawn="1"/>
        </p:nvSpPr>
        <p:spPr>
          <a:xfrm>
            <a:off x="300000" y="200000"/>
            <a:ext cx="80000" cy="80000"/>
          </a:xfrm>
          <a:prstGeom prst="ellipse">
            <a:avLst/>
          </a:prstGeom>
          <a:solidFill>
            <a:srgbClr val="2E86C1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" name="Dot1"/>
          <p:cNvSpPr/>
          <p:nvPr userDrawn="1"/>
        </p:nvSpPr>
        <p:spPr>
          <a:xfrm>
            <a:off x="500000" y="100000"/>
            <a:ext cx="120000" cy="120000"/>
          </a:xfrm>
          <a:prstGeom prst="ellipse">
            <a:avLst/>
          </a:prstGeom>
          <a:solidFill>
            <a:srgbClr val="2E86C1">
              <a:alpha val="3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Dot2"/>
          <p:cNvSpPr/>
          <p:nvPr userDrawn="1"/>
        </p:nvSpPr>
        <p:spPr>
          <a:xfrm>
            <a:off x="150000" y="400000"/>
            <a:ext cx="50000" cy="50000"/>
          </a:xfrm>
          <a:prstGeom prst="ellipse">
            <a:avLst/>
          </a:prstGeom>
          <a:solidFill>
            <a:srgbClr val="2E86C1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6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A556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A556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A556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4A5568"/>
          </a:solidFill>
        </a:defRPr>
      </a:defPPr>
      <a:lvl1pPr marL="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8D65F1-AB30-486F-860F-FB9CC391E3B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0F6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7CCC90-7791-4F24-9749-12F2AA3FFC88}"/>
              </a:ext>
            </a:extLst>
          </p:cNvPr>
          <p:cNvSpPr/>
          <p:nvPr/>
        </p:nvSpPr>
        <p:spPr>
          <a:xfrm>
            <a:off x="6070600" y="1016000"/>
            <a:ext cx="25400" cy="4826000"/>
          </a:xfrm>
          <a:prstGeom prst="rect">
            <a:avLst/>
          </a:prstGeom>
          <a:solidFill>
            <a:srgbClr val="2E86C1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D81F6-CB42-4CA4-AC88-D52541ED6DD8}"/>
              </a:ext>
            </a:extLst>
          </p:cNvPr>
          <p:cNvSpPr txBox="1"/>
          <p:nvPr/>
        </p:nvSpPr>
        <p:spPr>
          <a:xfrm>
            <a:off x="6477000" y="2032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800" b="1">
                <a:solidFill>
                  <a:srgbClr val="1A2332"/>
                </a:solidFill>
                <a:latin typeface="Poppins"/>
                <a:cs typeface="Poppins"/>
              </a:rPr>
              <a:t>ACME LABS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555C52-2F3E-419C-A4D1-35B2097871E8}"/>
              </a:ext>
            </a:extLst>
          </p:cNvPr>
          <p:cNvSpPr/>
          <p:nvPr/>
        </p:nvSpPr>
        <p:spPr>
          <a:xfrm>
            <a:off x="6477000" y="2730500"/>
            <a:ext cx="1270000" cy="508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0E35B-E872-4EF3-B7D4-EF8C9C7A9EF0}"/>
              </a:ext>
            </a:extLst>
          </p:cNvPr>
          <p:cNvSpPr txBox="1"/>
          <p:nvPr/>
        </p:nvSpPr>
        <p:spPr>
          <a:xfrm>
            <a:off x="6477000" y="32385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5A6B7D"/>
                </a:solidFill>
                <a:latin typeface="Source Sans Pro"/>
                <a:ea typeface="Source Sans Pro"/>
              </a:rPr>
              <a:t>Innovative Solutions for
Tomorrow's Challenges</a:t>
            </a:r>
            <a:endParaRPr lang="en-GB">
              <a:solidFill>
                <a:srgbClr val="5A6B7D"/>
              </a:solidFill>
              <a:latin typeface="Source Sans Pro"/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FD850-3714-41BC-9900-FDD7F53D5B27}"/>
              </a:ext>
            </a:extLst>
          </p:cNvPr>
          <p:cNvSpPr txBox="1"/>
          <p:nvPr/>
        </p:nvSpPr>
        <p:spPr>
          <a:xfrm>
            <a:off x="6477000" y="393700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E86C1"/>
                </a:solidFill>
                <a:latin typeface="Source Sans Pro"/>
                <a:ea typeface="Source Sans Pro"/>
              </a:rPr>
              <a:t>Let's Create Something Out of Nothing</a:t>
            </a:r>
            <a:endParaRPr lang="en-GB" sz="1400" i="1">
              <a:solidFill>
                <a:srgbClr val="2E86C1"/>
              </a:solidFill>
              <a:latin typeface="Source Sans Pro"/>
              <a:ea typeface="Source Sans Pr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EF0A5-3021-4450-A5C5-4627104B1545}"/>
              </a:ext>
            </a:extLst>
          </p:cNvPr>
          <p:cNvSpPr txBox="1"/>
          <p:nvPr/>
        </p:nvSpPr>
        <p:spPr>
          <a:xfrm>
            <a:off x="6477000" y="5207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94A3B8"/>
                </a:solidFill>
                <a:latin typeface="Source Sans Pro"/>
                <a:ea typeface="Source Sans Pro"/>
              </a:rPr>
              <a:t>www.acmelabs.com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B4A779-2929-B89E-8583-1CF87FBE6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222500"/>
            <a:ext cx="4826000" cy="179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58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E746D6-7767-49B5-B663-80E8F1D48A15}"/>
              </a:ext>
            </a:extLst>
          </p:cNvPr>
          <p:cNvSpPr txBox="1"/>
          <p:nvPr/>
        </p:nvSpPr>
        <p:spPr>
          <a:xfrm>
            <a:off x="762000" y="381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1A2332"/>
                </a:solidFill>
                <a:latin typeface="Poppins"/>
                <a:cs typeface="Poppins"/>
              </a:rPr>
              <a:t>About ACME Labs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9AC719-720B-44D4-97FA-F71919747EE1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53463A-ABF3-4FAD-BF48-10634783E1E2}"/>
              </a:ext>
            </a:extLst>
          </p:cNvPr>
          <p:cNvSpPr txBox="1"/>
          <p:nvPr/>
        </p:nvSpPr>
        <p:spPr>
          <a:xfrm>
            <a:off x="762000" y="1143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7B8DA0"/>
                </a:solidFill>
                <a:latin typeface="Source Sans Pro"/>
                <a:ea typeface="Source Sans Pro"/>
              </a:rPr>
              <a:t>Transforming bold ideas into breakthrough innovations</a:t>
            </a:r>
            <a:endParaRPr lang="en-GB" sz="1500">
              <a:solidFill>
                <a:srgbClr val="7B8DA0"/>
              </a:solidFill>
              <a:latin typeface="Source Sans Pro"/>
              <a:ea typeface="Source Sans Pro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CE5C9D-926F-43CA-9304-B38FD73BA1D7}"/>
              </a:ext>
            </a:extLst>
          </p:cNvPr>
          <p:cNvSpPr/>
          <p:nvPr/>
        </p:nvSpPr>
        <p:spPr>
          <a:xfrm>
            <a:off x="800100" y="1689100"/>
            <a:ext cx="3429000" cy="3556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AC7A07-A595-43ED-BDD9-0B1E572CA9E1}"/>
              </a:ext>
            </a:extLst>
          </p:cNvPr>
          <p:cNvSpPr/>
          <p:nvPr/>
        </p:nvSpPr>
        <p:spPr>
          <a:xfrm>
            <a:off x="762000" y="1651000"/>
            <a:ext cx="3429000" cy="3556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125DB-FEDB-4386-8801-9B8D653B62E9}"/>
              </a:ext>
            </a:extLst>
          </p:cNvPr>
          <p:cNvSpPr/>
          <p:nvPr/>
        </p:nvSpPr>
        <p:spPr>
          <a:xfrm>
            <a:off x="762000" y="1778000"/>
            <a:ext cx="50800" cy="33020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F69F22-D0C7-4A2F-B89D-7C15158E6C0E}"/>
              </a:ext>
            </a:extLst>
          </p:cNvPr>
          <p:cNvSpPr/>
          <p:nvPr/>
        </p:nvSpPr>
        <p:spPr>
          <a:xfrm>
            <a:off x="1079500" y="1968500"/>
            <a:ext cx="660400" cy="660400"/>
          </a:xfrm>
          <a:prstGeom prst="ellipse">
            <a:avLst/>
          </a:prstGeom>
          <a:solidFill>
            <a:srgbClr val="2E86C1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3DC35-6CFA-4B1F-87E7-54F70FDECB00}"/>
              </a:ext>
            </a:extLst>
          </p:cNvPr>
          <p:cNvSpPr txBox="1"/>
          <p:nvPr/>
        </p:nvSpPr>
        <p:spPr>
          <a:xfrm>
            <a:off x="1079500" y="28575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1A2332"/>
                </a:solidFill>
                <a:latin typeface="Poppins"/>
                <a:cs typeface="Poppins"/>
              </a:rPr>
              <a:t>Our Mission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86A65C-3E3F-48E9-8982-5F2B13B18762}"/>
              </a:ext>
            </a:extLst>
          </p:cNvPr>
          <p:cNvSpPr txBox="1"/>
          <p:nvPr/>
        </p:nvSpPr>
        <p:spPr>
          <a:xfrm>
            <a:off x="1079500" y="3302000"/>
            <a:ext cx="2794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Pioneering solutions that redefine what's possible in science and technology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9B9D8E-AF59-445D-A32E-64BFB4BA1222}"/>
              </a:ext>
            </a:extLst>
          </p:cNvPr>
          <p:cNvSpPr txBox="1"/>
          <p:nvPr/>
        </p:nvSpPr>
        <p:spPr>
          <a:xfrm>
            <a:off x="1079500" y="4635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2E86C1"/>
                </a:solidFill>
                <a:latin typeface="Source Sans Pro"/>
                <a:ea typeface="Source Sans Pro"/>
              </a:rPr>
              <a:t>Learn more 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2BCDB3-FB39-471E-AC54-D8AE33F901B1}"/>
              </a:ext>
            </a:extLst>
          </p:cNvPr>
          <p:cNvSpPr/>
          <p:nvPr/>
        </p:nvSpPr>
        <p:spPr>
          <a:xfrm>
            <a:off x="4508500" y="1689100"/>
            <a:ext cx="3429000" cy="3556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5101FD-49C9-4AFE-AF92-B01C997A3825}"/>
              </a:ext>
            </a:extLst>
          </p:cNvPr>
          <p:cNvSpPr/>
          <p:nvPr/>
        </p:nvSpPr>
        <p:spPr>
          <a:xfrm>
            <a:off x="4470400" y="1651000"/>
            <a:ext cx="3429000" cy="3556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D25C04-6378-43BA-AA1D-E084305B6974}"/>
              </a:ext>
            </a:extLst>
          </p:cNvPr>
          <p:cNvSpPr/>
          <p:nvPr/>
        </p:nvSpPr>
        <p:spPr>
          <a:xfrm>
            <a:off x="4470400" y="1778000"/>
            <a:ext cx="50800" cy="3302000"/>
          </a:xfrm>
          <a:prstGeom prst="rect">
            <a:avLst/>
          </a:prstGeom>
          <a:solidFill>
            <a:srgbClr val="0ABD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D9F753-20D9-4DCA-AEA2-E4963DD15DC9}"/>
              </a:ext>
            </a:extLst>
          </p:cNvPr>
          <p:cNvSpPr/>
          <p:nvPr/>
        </p:nvSpPr>
        <p:spPr>
          <a:xfrm>
            <a:off x="4787900" y="1968500"/>
            <a:ext cx="660400" cy="660400"/>
          </a:xfrm>
          <a:prstGeom prst="ellipse">
            <a:avLst/>
          </a:prstGeom>
          <a:solidFill>
            <a:srgbClr val="0ABDA0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EC877-8631-4D83-AEFC-A72CD82F75C9}"/>
              </a:ext>
            </a:extLst>
          </p:cNvPr>
          <p:cNvSpPr txBox="1"/>
          <p:nvPr/>
        </p:nvSpPr>
        <p:spPr>
          <a:xfrm>
            <a:off x="4787900" y="28575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1A2332"/>
                </a:solidFill>
                <a:latin typeface="Poppins"/>
                <a:cs typeface="Poppins"/>
              </a:rPr>
              <a:t>Our Approach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4953F-D27C-4D16-A0DD-228BAE85200E}"/>
              </a:ext>
            </a:extLst>
          </p:cNvPr>
          <p:cNvSpPr txBox="1"/>
          <p:nvPr/>
        </p:nvSpPr>
        <p:spPr>
          <a:xfrm>
            <a:off x="4787900" y="3302000"/>
            <a:ext cx="2794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Combining rigorous research with creative problem-solving for real-world impact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3E02C5-34B6-4EE1-90F9-3B056B84DDFB}"/>
              </a:ext>
            </a:extLst>
          </p:cNvPr>
          <p:cNvSpPr txBox="1"/>
          <p:nvPr/>
        </p:nvSpPr>
        <p:spPr>
          <a:xfrm>
            <a:off x="4787900" y="4635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0ABDA0"/>
                </a:solidFill>
                <a:latin typeface="Source Sans Pro"/>
                <a:ea typeface="Source Sans Pro"/>
              </a:rPr>
              <a:t>Learn more 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D9D210-D0BB-4B85-9FF4-19D868610B09}"/>
              </a:ext>
            </a:extLst>
          </p:cNvPr>
          <p:cNvSpPr/>
          <p:nvPr/>
        </p:nvSpPr>
        <p:spPr>
          <a:xfrm>
            <a:off x="8216900" y="1689100"/>
            <a:ext cx="3429000" cy="3556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C47D58-8FF6-4B17-97E5-0A6A93766FCC}"/>
              </a:ext>
            </a:extLst>
          </p:cNvPr>
          <p:cNvSpPr/>
          <p:nvPr/>
        </p:nvSpPr>
        <p:spPr>
          <a:xfrm>
            <a:off x="8178800" y="1651000"/>
            <a:ext cx="3429000" cy="3556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FD794-2AD5-422F-8AFD-7E6ADEE97D3F}"/>
              </a:ext>
            </a:extLst>
          </p:cNvPr>
          <p:cNvSpPr/>
          <p:nvPr/>
        </p:nvSpPr>
        <p:spPr>
          <a:xfrm>
            <a:off x="8178800" y="1778000"/>
            <a:ext cx="50800" cy="3302000"/>
          </a:xfrm>
          <a:prstGeom prst="rect">
            <a:avLst/>
          </a:prstGeom>
          <a:solidFill>
            <a:srgbClr val="6C5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275FD0-EB39-4EF7-972C-716547C142CF}"/>
              </a:ext>
            </a:extLst>
          </p:cNvPr>
          <p:cNvSpPr/>
          <p:nvPr/>
        </p:nvSpPr>
        <p:spPr>
          <a:xfrm>
            <a:off x="8496300" y="1968500"/>
            <a:ext cx="660400" cy="660400"/>
          </a:xfrm>
          <a:prstGeom prst="ellipse">
            <a:avLst/>
          </a:prstGeom>
          <a:solidFill>
            <a:srgbClr val="6C5CE7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9543DA-5ABE-4663-95F7-507E2F9B696B}"/>
              </a:ext>
            </a:extLst>
          </p:cNvPr>
          <p:cNvSpPr txBox="1"/>
          <p:nvPr/>
        </p:nvSpPr>
        <p:spPr>
          <a:xfrm>
            <a:off x="8496300" y="28575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1A2332"/>
                </a:solidFill>
                <a:latin typeface="Poppins"/>
                <a:cs typeface="Poppins"/>
              </a:rPr>
              <a:t>Our Expertise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DFEB88-FA50-4211-8EC5-A1E707C64099}"/>
              </a:ext>
            </a:extLst>
          </p:cNvPr>
          <p:cNvSpPr txBox="1"/>
          <p:nvPr/>
        </p:nvSpPr>
        <p:spPr>
          <a:xfrm>
            <a:off x="8496300" y="3302000"/>
            <a:ext cx="2794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Deep domain knowledge across chemistry, biotech, and materials science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C95B41-4864-4799-BC64-5EBAFA59BAE4}"/>
              </a:ext>
            </a:extLst>
          </p:cNvPr>
          <p:cNvSpPr txBox="1"/>
          <p:nvPr/>
        </p:nvSpPr>
        <p:spPr>
          <a:xfrm>
            <a:off x="8496300" y="4635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6C5CE7"/>
                </a:solidFill>
                <a:latin typeface="Source Sans Pro"/>
                <a:ea typeface="Source Sans Pro"/>
              </a:rPr>
              <a:t>Learn more →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7750C0D-9E08-51DA-3C4D-10699D1A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0"/>
            <a:ext cx="1270000" cy="472277"/>
          </a:xfrm>
          <a:prstGeom prst="rect">
            <a:avLst/>
          </a:prstGeom>
        </p:spPr>
      </p:pic>
      <p:pic>
        <p:nvPicPr>
          <p:cNvPr id="51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2133600"/>
            <a:ext cx="330200" cy="330200"/>
          </a:xfrm>
          <a:prstGeom prst="rect">
            <a:avLst/>
          </a:prstGeom>
        </p:spPr>
      </p:pic>
      <p:pic>
        <p:nvPicPr>
          <p:cNvPr id="52" name="Graphic 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2133600"/>
            <a:ext cx="330200" cy="330200"/>
          </a:xfrm>
          <a:prstGeom prst="rect">
            <a:avLst/>
          </a:prstGeom>
        </p:spPr>
      </p:pic>
      <p:pic>
        <p:nvPicPr>
          <p:cNvPr id="53" name="Graphic 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1400" y="21336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5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0E0F59A1-2FB9-4D04-85DE-49CCDE2101EB}"/>
              </a:ext>
            </a:extLst>
          </p:cNvPr>
          <p:cNvSpPr txBox="1"/>
          <p:nvPr/>
        </p:nvSpPr>
        <p:spPr>
          <a:xfrm>
            <a:off x="762000" y="3810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1A2332"/>
                </a:solidFill>
                <a:latin typeface="Poppins"/>
                <a:cs typeface="Poppins"/>
              </a:rPr>
              <a:t>What We Offer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EF2178-E2C3-4909-897D-04320E0E4CA4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E7511F2-FA43-475D-9136-6FB7A88B3DFB}"/>
              </a:ext>
            </a:extLst>
          </p:cNvPr>
          <p:cNvSpPr/>
          <p:nvPr/>
        </p:nvSpPr>
        <p:spPr>
          <a:xfrm>
            <a:off x="800100" y="1308100"/>
            <a:ext cx="5334000" cy="2286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E3D8A4D-11C7-44D9-A463-4B66D29F7722}"/>
              </a:ext>
            </a:extLst>
          </p:cNvPr>
          <p:cNvSpPr/>
          <p:nvPr/>
        </p:nvSpPr>
        <p:spPr>
          <a:xfrm>
            <a:off x="762000" y="1270000"/>
            <a:ext cx="5334000" cy="2286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50649F-C54D-456D-BCBB-B448B8C43E71}"/>
              </a:ext>
            </a:extLst>
          </p:cNvPr>
          <p:cNvSpPr txBox="1"/>
          <p:nvPr/>
        </p:nvSpPr>
        <p:spPr>
          <a:xfrm>
            <a:off x="1016000" y="14224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2E86C1"/>
                </a:solidFill>
                <a:latin typeface="Poppins"/>
                <a:cs typeface="Poppins"/>
              </a:rPr>
              <a:t>01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45DEF0E-087B-4981-B484-98B74CB8055D}"/>
              </a:ext>
            </a:extLst>
          </p:cNvPr>
          <p:cNvSpPr/>
          <p:nvPr/>
        </p:nvSpPr>
        <p:spPr>
          <a:xfrm>
            <a:off x="1905000" y="1651000"/>
            <a:ext cx="76200" cy="76200"/>
          </a:xfrm>
          <a:prstGeom prst="ellipse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45204E-786A-4974-8BC9-5524F6BE0A51}"/>
              </a:ext>
            </a:extLst>
          </p:cNvPr>
          <p:cNvSpPr txBox="1"/>
          <p:nvPr/>
        </p:nvSpPr>
        <p:spPr>
          <a:xfrm>
            <a:off x="2159000" y="1460500"/>
            <a:ext cx="36195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1A2332"/>
                </a:solidFill>
                <a:latin typeface="Poppins"/>
                <a:cs typeface="Poppins"/>
              </a:rPr>
              <a:t>Research &amp; Development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5F91F9E-2237-49A7-B555-3B11A3784B68}"/>
              </a:ext>
            </a:extLst>
          </p:cNvPr>
          <p:cNvSpPr/>
          <p:nvPr/>
        </p:nvSpPr>
        <p:spPr>
          <a:xfrm>
            <a:off x="1016000" y="2095500"/>
            <a:ext cx="482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169DC4-7DB3-41D6-8CCB-D2A4315D066B}"/>
              </a:ext>
            </a:extLst>
          </p:cNvPr>
          <p:cNvSpPr txBox="1"/>
          <p:nvPr/>
        </p:nvSpPr>
        <p:spPr>
          <a:xfrm>
            <a:off x="1016000" y="22860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Cutting-edge R&amp;D across multiple scientific disciplines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9843125-A90E-4AD5-844A-C33AD0DFFCD0}"/>
              </a:ext>
            </a:extLst>
          </p:cNvPr>
          <p:cNvSpPr/>
          <p:nvPr/>
        </p:nvSpPr>
        <p:spPr>
          <a:xfrm>
            <a:off x="762000" y="3505200"/>
            <a:ext cx="5334000" cy="50800"/>
          </a:xfrm>
          <a:prstGeom prst="rect">
            <a:avLst/>
          </a:prstGeom>
          <a:solidFill>
            <a:srgbClr val="2E86C1">
              <a:alpha val="3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0A0D318-618D-49A6-8988-2348709163BE}"/>
              </a:ext>
            </a:extLst>
          </p:cNvPr>
          <p:cNvSpPr/>
          <p:nvPr/>
        </p:nvSpPr>
        <p:spPr>
          <a:xfrm>
            <a:off x="6388100" y="1308100"/>
            <a:ext cx="5334000" cy="2286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72B1AD1-900B-4461-B7DA-B92A28B8138E}"/>
              </a:ext>
            </a:extLst>
          </p:cNvPr>
          <p:cNvSpPr/>
          <p:nvPr/>
        </p:nvSpPr>
        <p:spPr>
          <a:xfrm>
            <a:off x="6350000" y="1270000"/>
            <a:ext cx="5334000" cy="2286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B663CE-5743-42E2-9909-8F46D77A0C6F}"/>
              </a:ext>
            </a:extLst>
          </p:cNvPr>
          <p:cNvSpPr txBox="1"/>
          <p:nvPr/>
        </p:nvSpPr>
        <p:spPr>
          <a:xfrm>
            <a:off x="6604000" y="14224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0ABDA0"/>
                </a:solidFill>
                <a:latin typeface="Poppins"/>
                <a:cs typeface="Poppins"/>
              </a:rPr>
              <a:t>02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2FB54AF-E26A-4249-A4A2-E384B6E07729}"/>
              </a:ext>
            </a:extLst>
          </p:cNvPr>
          <p:cNvSpPr/>
          <p:nvPr/>
        </p:nvSpPr>
        <p:spPr>
          <a:xfrm>
            <a:off x="7493000" y="1651000"/>
            <a:ext cx="76200" cy="76200"/>
          </a:xfrm>
          <a:prstGeom prst="ellipse">
            <a:avLst/>
          </a:prstGeom>
          <a:solidFill>
            <a:srgbClr val="0ABD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EBC1F9-67D6-4D11-81AF-64D7D3194338}"/>
              </a:ext>
            </a:extLst>
          </p:cNvPr>
          <p:cNvSpPr txBox="1"/>
          <p:nvPr/>
        </p:nvSpPr>
        <p:spPr>
          <a:xfrm>
            <a:off x="7747000" y="1460500"/>
            <a:ext cx="36195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1A2332"/>
                </a:solidFill>
                <a:latin typeface="Poppins"/>
                <a:cs typeface="Poppins"/>
              </a:rPr>
              <a:t>Product Innovation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F8AFFB-B43B-4AB8-A123-8794DFE963AC}"/>
              </a:ext>
            </a:extLst>
          </p:cNvPr>
          <p:cNvSpPr/>
          <p:nvPr/>
        </p:nvSpPr>
        <p:spPr>
          <a:xfrm>
            <a:off x="6604000" y="2095500"/>
            <a:ext cx="482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F2CF25-4C92-4B02-BB5B-2A552D5B9D8D}"/>
              </a:ext>
            </a:extLst>
          </p:cNvPr>
          <p:cNvSpPr txBox="1"/>
          <p:nvPr/>
        </p:nvSpPr>
        <p:spPr>
          <a:xfrm>
            <a:off x="6604000" y="22860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From concept to market-ready products with proven methods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91C2B05-6808-4F02-8322-3BC8BCBF8B2A}"/>
              </a:ext>
            </a:extLst>
          </p:cNvPr>
          <p:cNvSpPr/>
          <p:nvPr/>
        </p:nvSpPr>
        <p:spPr>
          <a:xfrm>
            <a:off x="6350000" y="3505200"/>
            <a:ext cx="5334000" cy="50800"/>
          </a:xfrm>
          <a:prstGeom prst="rect">
            <a:avLst/>
          </a:prstGeom>
          <a:solidFill>
            <a:srgbClr val="0ABDA0">
              <a:alpha val="3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1F262C40-C2C9-41EB-842A-6F9F7260A9D4}"/>
              </a:ext>
            </a:extLst>
          </p:cNvPr>
          <p:cNvSpPr/>
          <p:nvPr/>
        </p:nvSpPr>
        <p:spPr>
          <a:xfrm>
            <a:off x="800100" y="3784600"/>
            <a:ext cx="5334000" cy="2286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6A2847A6-36D3-441E-AB50-F6937FFCE42C}"/>
              </a:ext>
            </a:extLst>
          </p:cNvPr>
          <p:cNvSpPr/>
          <p:nvPr/>
        </p:nvSpPr>
        <p:spPr>
          <a:xfrm>
            <a:off x="762000" y="3746500"/>
            <a:ext cx="5334000" cy="2286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DF0A56-E659-452F-8A66-DD07E20954F3}"/>
              </a:ext>
            </a:extLst>
          </p:cNvPr>
          <p:cNvSpPr txBox="1"/>
          <p:nvPr/>
        </p:nvSpPr>
        <p:spPr>
          <a:xfrm>
            <a:off x="1016000" y="38989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6C5CE7"/>
                </a:solidFill>
                <a:latin typeface="Poppins"/>
                <a:cs typeface="Poppins"/>
              </a:rPr>
              <a:t>03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693DD96-A8E3-4919-A0EC-4200165780EF}"/>
              </a:ext>
            </a:extLst>
          </p:cNvPr>
          <p:cNvSpPr/>
          <p:nvPr/>
        </p:nvSpPr>
        <p:spPr>
          <a:xfrm>
            <a:off x="1905000" y="4127500"/>
            <a:ext cx="76200" cy="76200"/>
          </a:xfrm>
          <a:prstGeom prst="ellipse">
            <a:avLst/>
          </a:prstGeom>
          <a:solidFill>
            <a:srgbClr val="6C5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97FD14-3F52-4916-8218-0C4F83FCE331}"/>
              </a:ext>
            </a:extLst>
          </p:cNvPr>
          <p:cNvSpPr txBox="1"/>
          <p:nvPr/>
        </p:nvSpPr>
        <p:spPr>
          <a:xfrm>
            <a:off x="2159000" y="3937000"/>
            <a:ext cx="36195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1A2332"/>
                </a:solidFill>
                <a:latin typeface="Poppins"/>
                <a:cs typeface="Poppins"/>
              </a:rPr>
              <a:t>Consulting Services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52C9655-BDF8-4778-9DB4-92A4B3159EE5}"/>
              </a:ext>
            </a:extLst>
          </p:cNvPr>
          <p:cNvSpPr/>
          <p:nvPr/>
        </p:nvSpPr>
        <p:spPr>
          <a:xfrm>
            <a:off x="1016000" y="4572000"/>
            <a:ext cx="482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960B5F-B186-44CF-8B20-66A57C3CA4CA}"/>
              </a:ext>
            </a:extLst>
          </p:cNvPr>
          <p:cNvSpPr txBox="1"/>
          <p:nvPr/>
        </p:nvSpPr>
        <p:spPr>
          <a:xfrm>
            <a:off x="1016000" y="4762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Expert guidance for complex technical and strategic challenges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C9569F4-4D55-487B-803E-573D21657C9B}"/>
              </a:ext>
            </a:extLst>
          </p:cNvPr>
          <p:cNvSpPr/>
          <p:nvPr/>
        </p:nvSpPr>
        <p:spPr>
          <a:xfrm>
            <a:off x="762000" y="5981700"/>
            <a:ext cx="5334000" cy="50800"/>
          </a:xfrm>
          <a:prstGeom prst="rect">
            <a:avLst/>
          </a:prstGeom>
          <a:solidFill>
            <a:srgbClr val="6C5CE7">
              <a:alpha val="3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D6C702D-21DA-469D-A587-A57BDD7230D8}"/>
              </a:ext>
            </a:extLst>
          </p:cNvPr>
          <p:cNvSpPr/>
          <p:nvPr/>
        </p:nvSpPr>
        <p:spPr>
          <a:xfrm>
            <a:off x="6388100" y="3784600"/>
            <a:ext cx="5334000" cy="2286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DA094A0-3D1F-4AAE-B765-7C87A9FE47B4}"/>
              </a:ext>
            </a:extLst>
          </p:cNvPr>
          <p:cNvSpPr/>
          <p:nvPr/>
        </p:nvSpPr>
        <p:spPr>
          <a:xfrm>
            <a:off x="6350000" y="3746500"/>
            <a:ext cx="5334000" cy="2286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678C6F-385E-401A-890B-81E7C770B371}"/>
              </a:ext>
            </a:extLst>
          </p:cNvPr>
          <p:cNvSpPr txBox="1"/>
          <p:nvPr/>
        </p:nvSpPr>
        <p:spPr>
          <a:xfrm>
            <a:off x="6604000" y="38989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F59E0B"/>
                </a:solidFill>
                <a:latin typeface="Poppins"/>
                <a:cs typeface="Poppins"/>
              </a:rPr>
              <a:t>04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AFCF000-9837-4F91-93EB-8CD0EB70C3F1}"/>
              </a:ext>
            </a:extLst>
          </p:cNvPr>
          <p:cNvSpPr/>
          <p:nvPr/>
        </p:nvSpPr>
        <p:spPr>
          <a:xfrm>
            <a:off x="7493000" y="4127500"/>
            <a:ext cx="76200" cy="762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BEC4C8-02DB-48B8-B1C1-8AE8386F0858}"/>
              </a:ext>
            </a:extLst>
          </p:cNvPr>
          <p:cNvSpPr txBox="1"/>
          <p:nvPr/>
        </p:nvSpPr>
        <p:spPr>
          <a:xfrm>
            <a:off x="7747000" y="3937000"/>
            <a:ext cx="36195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1A2332"/>
                </a:solidFill>
                <a:latin typeface="Poppins"/>
                <a:cs typeface="Poppins"/>
              </a:rPr>
              <a:t>Quality Assurance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E066AD-DA3E-4EE8-A682-BDA49E299D5B}"/>
              </a:ext>
            </a:extLst>
          </p:cNvPr>
          <p:cNvSpPr/>
          <p:nvPr/>
        </p:nvSpPr>
        <p:spPr>
          <a:xfrm>
            <a:off x="6604000" y="4572000"/>
            <a:ext cx="482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5D8388F-2D20-4136-AFD3-7F253A8FB8D4}"/>
              </a:ext>
            </a:extLst>
          </p:cNvPr>
          <p:cNvSpPr txBox="1"/>
          <p:nvPr/>
        </p:nvSpPr>
        <p:spPr>
          <a:xfrm>
            <a:off x="6604000" y="4762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Rigorous testing and validation to the highest industry standards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593A224-5940-45A7-B0C1-6E0EA943E477}"/>
              </a:ext>
            </a:extLst>
          </p:cNvPr>
          <p:cNvSpPr/>
          <p:nvPr/>
        </p:nvSpPr>
        <p:spPr>
          <a:xfrm>
            <a:off x="6350000" y="5981700"/>
            <a:ext cx="5334000" cy="50800"/>
          </a:xfrm>
          <a:prstGeom prst="rect">
            <a:avLst/>
          </a:prstGeom>
          <a:solidFill>
            <a:srgbClr val="F59E0B">
              <a:alpha val="3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60766EF5-7FA5-483F-8303-3F4960C8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0"/>
            <a:ext cx="1270000" cy="47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2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0D1D878C-A527-428A-8B5C-30100E025718}"/>
              </a:ext>
            </a:extLst>
          </p:cNvPr>
          <p:cNvSpPr txBox="1"/>
          <p:nvPr/>
        </p:nvSpPr>
        <p:spPr>
          <a:xfrm>
            <a:off x="762000" y="381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1A2332"/>
                </a:solidFill>
                <a:latin typeface="Poppins"/>
                <a:cs typeface="Poppins"/>
              </a:rPr>
              <a:t>Why Choose ACME Labs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F5BCAB-7ADD-4389-9A3B-1219224C6D7A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E07F139-3510-4F02-A187-8BB8F44B70A5}"/>
              </a:ext>
            </a:extLst>
          </p:cNvPr>
          <p:cNvSpPr/>
          <p:nvPr/>
        </p:nvSpPr>
        <p:spPr>
          <a:xfrm>
            <a:off x="762000" y="1397000"/>
            <a:ext cx="609600" cy="406400"/>
          </a:xfrm>
          <a:prstGeom prst="roundRect">
            <a:avLst/>
          </a:prstGeom>
          <a:solidFill>
            <a:srgbClr val="2E86C1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500" b="1">
                <a:solidFill>
                  <a:srgbClr val="2E86C1"/>
                </a:solidFill>
                <a:latin typeface="Poppins"/>
                <a:cs typeface="Poppins"/>
              </a:rP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E48BDE-2E5C-4001-B3B3-A244809B55A2}"/>
              </a:ext>
            </a:extLst>
          </p:cNvPr>
          <p:cNvSpPr txBox="1"/>
          <p:nvPr/>
        </p:nvSpPr>
        <p:spPr>
          <a:xfrm>
            <a:off x="1524000" y="13335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900" b="1">
                <a:solidFill>
                  <a:srgbClr val="1A2332"/>
                </a:solidFill>
                <a:latin typeface="Poppins"/>
                <a:cs typeface="Poppins"/>
              </a:rPr>
              <a:t>Proven Track Record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AE3B6D-A19B-4862-8BFA-95256714DAF8}"/>
              </a:ext>
            </a:extLst>
          </p:cNvPr>
          <p:cNvSpPr txBox="1"/>
          <p:nvPr/>
        </p:nvSpPr>
        <p:spPr>
          <a:xfrm>
            <a:off x="1524000" y="17145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15+ years delivering breakthrough solutions across industries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3C9C1A-2023-457F-BC92-6624B4DDA2D6}"/>
              </a:ext>
            </a:extLst>
          </p:cNvPr>
          <p:cNvSpPr/>
          <p:nvPr/>
        </p:nvSpPr>
        <p:spPr>
          <a:xfrm>
            <a:off x="762000" y="2413000"/>
            <a:ext cx="5334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39E9BD-3476-4F73-94AC-82EF0627B580}"/>
              </a:ext>
            </a:extLst>
          </p:cNvPr>
          <p:cNvSpPr/>
          <p:nvPr/>
        </p:nvSpPr>
        <p:spPr>
          <a:xfrm>
            <a:off x="762000" y="2921000"/>
            <a:ext cx="609600" cy="406400"/>
          </a:xfrm>
          <a:prstGeom prst="roundRect">
            <a:avLst/>
          </a:prstGeom>
          <a:solidFill>
            <a:srgbClr val="2E86C1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500" b="1">
                <a:solidFill>
                  <a:srgbClr val="2E86C1"/>
                </a:solidFill>
                <a:latin typeface="Poppins"/>
                <a:cs typeface="Poppins"/>
              </a:rP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A83C9A-D9A6-40B9-93D7-E00FD705686F}"/>
              </a:ext>
            </a:extLst>
          </p:cNvPr>
          <p:cNvSpPr txBox="1"/>
          <p:nvPr/>
        </p:nvSpPr>
        <p:spPr>
          <a:xfrm>
            <a:off x="1524000" y="28575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900" b="1">
                <a:solidFill>
                  <a:srgbClr val="1A2332"/>
                </a:solidFill>
                <a:latin typeface="Poppins"/>
                <a:cs typeface="Poppins"/>
              </a:rPr>
              <a:t>Multidisciplinary Teams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30B392-E97B-4542-A87F-6E01E06848D5}"/>
              </a:ext>
            </a:extLst>
          </p:cNvPr>
          <p:cNvSpPr txBox="1"/>
          <p:nvPr/>
        </p:nvSpPr>
        <p:spPr>
          <a:xfrm>
            <a:off x="1524000" y="32385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Cross-functional experts in science, engineering, and design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4D4140-8C82-478A-866A-6693B7BB9791}"/>
              </a:ext>
            </a:extLst>
          </p:cNvPr>
          <p:cNvSpPr/>
          <p:nvPr/>
        </p:nvSpPr>
        <p:spPr>
          <a:xfrm>
            <a:off x="762000" y="3937000"/>
            <a:ext cx="5334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502A3B7-0E04-4036-BBE3-BB9763B506B7}"/>
              </a:ext>
            </a:extLst>
          </p:cNvPr>
          <p:cNvSpPr/>
          <p:nvPr/>
        </p:nvSpPr>
        <p:spPr>
          <a:xfrm>
            <a:off x="762000" y="4445000"/>
            <a:ext cx="609600" cy="406400"/>
          </a:xfrm>
          <a:prstGeom prst="roundRect">
            <a:avLst/>
          </a:prstGeom>
          <a:solidFill>
            <a:srgbClr val="2E86C1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500" b="1">
                <a:solidFill>
                  <a:srgbClr val="2E86C1"/>
                </a:solidFill>
                <a:latin typeface="Poppins"/>
                <a:cs typeface="Poppins"/>
              </a:rPr>
              <a:t>03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2CD692-2D28-45DE-99EA-AC3C6ECAE27A}"/>
              </a:ext>
            </a:extLst>
          </p:cNvPr>
          <p:cNvSpPr txBox="1"/>
          <p:nvPr/>
        </p:nvSpPr>
        <p:spPr>
          <a:xfrm>
            <a:off x="1524000" y="43815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900" b="1">
                <a:solidFill>
                  <a:srgbClr val="1A2332"/>
                </a:solidFill>
                <a:latin typeface="Poppins"/>
                <a:cs typeface="Poppins"/>
              </a:rPr>
              <a:t>End-to-End Support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3D2188-2D47-4A4C-A445-838245DC2322}"/>
              </a:ext>
            </a:extLst>
          </p:cNvPr>
          <p:cNvSpPr txBox="1"/>
          <p:nvPr/>
        </p:nvSpPr>
        <p:spPr>
          <a:xfrm>
            <a:off x="1524000" y="47625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D8E"/>
                </a:solidFill>
                <a:latin typeface="Source Sans Pro"/>
                <a:ea typeface="Source Sans Pro"/>
              </a:rPr>
              <a:t>From initial research through commercialization and beyond</a:t>
            </a:r>
            <a:endParaRPr lang="en-GB" sz="1400">
              <a:solidFill>
                <a:srgbClr val="6B7D8E"/>
              </a:solidFill>
              <a:latin typeface="Source Sans Pro"/>
              <a:ea typeface="Source Sans Pro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367A4D9-70D4-49D3-8438-12158F670C04}"/>
              </a:ext>
            </a:extLst>
          </p:cNvPr>
          <p:cNvSpPr/>
          <p:nvPr/>
        </p:nvSpPr>
        <p:spPr>
          <a:xfrm>
            <a:off x="6604000" y="1270000"/>
            <a:ext cx="5080000" cy="4699000"/>
          </a:xfrm>
          <a:prstGeom prst="roundRect">
            <a:avLst/>
          </a:prstGeom>
          <a:solidFill>
            <a:srgbClr val="F0F6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55D36E-83CA-48BC-B6B9-95B75D7A7082}"/>
              </a:ext>
            </a:extLst>
          </p:cNvPr>
          <p:cNvSpPr txBox="1"/>
          <p:nvPr/>
        </p:nvSpPr>
        <p:spPr>
          <a:xfrm>
            <a:off x="6921500" y="1587500"/>
            <a:ext cx="2032000" cy="698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000" b="1">
                <a:solidFill>
                  <a:srgbClr val="2E86C1"/>
                </a:solidFill>
                <a:latin typeface="Poppins"/>
                <a:cs typeface="Poppins"/>
              </a:rPr>
              <a:t>500+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7B0FC6-611E-4A73-82A1-296C1BBD1810}"/>
              </a:ext>
            </a:extLst>
          </p:cNvPr>
          <p:cNvSpPr/>
          <p:nvPr/>
        </p:nvSpPr>
        <p:spPr>
          <a:xfrm>
            <a:off x="7620000" y="2286000"/>
            <a:ext cx="635000" cy="25400"/>
          </a:xfrm>
          <a:prstGeom prst="rect">
            <a:avLst/>
          </a:prstGeom>
          <a:solidFill>
            <a:srgbClr val="2E86C1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5D3949-40FE-419D-A222-076C1E7F911C}"/>
              </a:ext>
            </a:extLst>
          </p:cNvPr>
          <p:cNvSpPr txBox="1"/>
          <p:nvPr/>
        </p:nvSpPr>
        <p:spPr>
          <a:xfrm>
            <a:off x="6921500" y="24130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5A6B7D"/>
                </a:solidFill>
                <a:latin typeface="Source Sans Pro"/>
                <a:ea typeface="Source Sans Pro"/>
              </a:rPr>
              <a:t>Projects Delivered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9E92E6-8D77-41F2-9069-469193724CB4}"/>
              </a:ext>
            </a:extLst>
          </p:cNvPr>
          <p:cNvSpPr txBox="1"/>
          <p:nvPr/>
        </p:nvSpPr>
        <p:spPr>
          <a:xfrm>
            <a:off x="9271000" y="1587500"/>
            <a:ext cx="2032000" cy="698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000" b="1">
                <a:solidFill>
                  <a:srgbClr val="0ABDA0"/>
                </a:solidFill>
                <a:latin typeface="Poppins"/>
                <a:cs typeface="Poppins"/>
              </a:rPr>
              <a:t>98%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11A785-659F-405F-A5ED-1DA78FBC86DE}"/>
              </a:ext>
            </a:extLst>
          </p:cNvPr>
          <p:cNvSpPr/>
          <p:nvPr/>
        </p:nvSpPr>
        <p:spPr>
          <a:xfrm>
            <a:off x="9969500" y="2286000"/>
            <a:ext cx="635000" cy="25400"/>
          </a:xfrm>
          <a:prstGeom prst="rect">
            <a:avLst/>
          </a:prstGeom>
          <a:solidFill>
            <a:srgbClr val="0ABDA0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91E784-2A8D-412B-9DC7-6572BC05A0E8}"/>
              </a:ext>
            </a:extLst>
          </p:cNvPr>
          <p:cNvSpPr txBox="1"/>
          <p:nvPr/>
        </p:nvSpPr>
        <p:spPr>
          <a:xfrm>
            <a:off x="9271000" y="24130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5A6B7D"/>
                </a:solidFill>
                <a:latin typeface="Source Sans Pro"/>
                <a:ea typeface="Source Sans Pro"/>
              </a:rPr>
              <a:t>Client Satisfaction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5A0561-C5A4-4322-8BD2-D807432E2E11}"/>
              </a:ext>
            </a:extLst>
          </p:cNvPr>
          <p:cNvSpPr txBox="1"/>
          <p:nvPr/>
        </p:nvSpPr>
        <p:spPr>
          <a:xfrm>
            <a:off x="6921500" y="3810000"/>
            <a:ext cx="2032000" cy="698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000" b="1">
                <a:solidFill>
                  <a:srgbClr val="6C5CE7"/>
                </a:solidFill>
                <a:latin typeface="Poppins"/>
                <a:cs typeface="Poppins"/>
              </a:rPr>
              <a:t>50+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69FD7B-BB86-4847-B5C5-8E02D97181CF}"/>
              </a:ext>
            </a:extLst>
          </p:cNvPr>
          <p:cNvSpPr/>
          <p:nvPr/>
        </p:nvSpPr>
        <p:spPr>
          <a:xfrm>
            <a:off x="7620000" y="4508500"/>
            <a:ext cx="635000" cy="25400"/>
          </a:xfrm>
          <a:prstGeom prst="rect">
            <a:avLst/>
          </a:prstGeom>
          <a:solidFill>
            <a:srgbClr val="6C5CE7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09D8AA-5C4F-48F1-9FA3-112F1B9366A2}"/>
              </a:ext>
            </a:extLst>
          </p:cNvPr>
          <p:cNvSpPr txBox="1"/>
          <p:nvPr/>
        </p:nvSpPr>
        <p:spPr>
          <a:xfrm>
            <a:off x="6921500" y="46355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5A6B7D"/>
                </a:solidFill>
                <a:latin typeface="Source Sans Pro"/>
                <a:ea typeface="Source Sans Pro"/>
              </a:rPr>
              <a:t>Industry Partners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8C6B51-1501-4272-AAD9-A7BB3C811BCC}"/>
              </a:ext>
            </a:extLst>
          </p:cNvPr>
          <p:cNvSpPr txBox="1"/>
          <p:nvPr/>
        </p:nvSpPr>
        <p:spPr>
          <a:xfrm>
            <a:off x="9271000" y="3810000"/>
            <a:ext cx="2032000" cy="698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000" b="1">
                <a:solidFill>
                  <a:srgbClr val="F59E0B"/>
                </a:solidFill>
                <a:latin typeface="Poppins"/>
                <a:cs typeface="Poppins"/>
              </a:rPr>
              <a:t>15+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EA7351-6C81-4AFB-9EA8-CCF40BB67E76}"/>
              </a:ext>
            </a:extLst>
          </p:cNvPr>
          <p:cNvSpPr/>
          <p:nvPr/>
        </p:nvSpPr>
        <p:spPr>
          <a:xfrm>
            <a:off x="9969500" y="4508500"/>
            <a:ext cx="635000" cy="25400"/>
          </a:xfrm>
          <a:prstGeom prst="rect">
            <a:avLst/>
          </a:prstGeom>
          <a:solidFill>
            <a:srgbClr val="F59E0B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587D8F-A10C-4C5C-97B1-BB965208406F}"/>
              </a:ext>
            </a:extLst>
          </p:cNvPr>
          <p:cNvSpPr txBox="1"/>
          <p:nvPr/>
        </p:nvSpPr>
        <p:spPr>
          <a:xfrm>
            <a:off x="9271000" y="46355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5A6B7D"/>
                </a:solidFill>
                <a:latin typeface="Source Sans Pro"/>
                <a:ea typeface="Source Sans Pro"/>
              </a:rPr>
              <a:t>Years of Excellence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4D49E97-E6FB-BC4B-3DC5-A8888F98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0"/>
            <a:ext cx="1270000" cy="47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8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CFC07A-5474-4517-8F4F-79B1C189B5FF}"/>
              </a:ext>
            </a:extLst>
          </p:cNvPr>
          <p:cNvSpPr txBox="1"/>
          <p:nvPr/>
        </p:nvSpPr>
        <p:spPr>
          <a:xfrm>
            <a:off x="762000" y="3810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1A2332"/>
                </a:solidFill>
                <a:latin typeface="Poppins"/>
                <a:cs typeface="Poppins"/>
              </a:rPr>
              <a:t>Growth &amp; Impact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3AC2FF-A95A-4517-89CF-235B62516DF2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A69EE-599F-48AA-AAC1-6ECDB30AD217}"/>
              </a:ext>
            </a:extLst>
          </p:cNvPr>
          <p:cNvSpPr txBox="1"/>
          <p:nvPr/>
        </p:nvSpPr>
        <p:spPr>
          <a:xfrm>
            <a:off x="762000" y="1143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7B8DA0"/>
                </a:solidFill>
                <a:latin typeface="Source Sans Pro"/>
                <a:ea typeface="Source Sans Pro"/>
              </a:rPr>
              <a:t>Year-over-year performance across key business metrics</a:t>
            </a:r>
            <a:endParaRPr lang="en-GB" sz="1500">
              <a:solidFill>
                <a:srgbClr val="7B8DA0"/>
              </a:solidFill>
              <a:latin typeface="Source Sans Pro"/>
              <a:ea typeface="Source Sans Pr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D7DEDC-F315-A903-F237-2F88C3B43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0"/>
            <a:ext cx="1270000" cy="472277"/>
          </a:xfrm>
          <a:prstGeom prst="rect">
            <a:avLst/>
          </a:prstGeom>
        </p:spPr>
      </p:pic>
      <p:graphicFrame>
        <p:nvGraphicFramePr>
          <p:cNvPr id="201" name="Chart 1"/>
          <p:cNvGraphicFramePr/>
          <p:nvPr/>
        </p:nvGraphicFramePr>
        <p:xfrm>
          <a:off x="762000" y="1524000"/>
          <a:ext cx="10668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3316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5BE18727-C9BA-4F1C-9660-A9E2B1B20F03}"/>
              </a:ext>
            </a:extLst>
          </p:cNvPr>
          <p:cNvSpPr txBox="1"/>
          <p:nvPr/>
        </p:nvSpPr>
        <p:spPr>
          <a:xfrm>
            <a:off x="762000" y="381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600" b="1">
                <a:solidFill>
                  <a:srgbClr val="1A2332"/>
                </a:solidFill>
                <a:latin typeface="Poppins"/>
                <a:cs typeface="Poppins"/>
              </a:rPr>
              <a:t>What Our Clients Say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28AAF-771C-4AC1-B4A4-4EA0C16C600A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A3C3B70-0EE1-45F0-A49C-AFE9D520F6A6}"/>
              </a:ext>
            </a:extLst>
          </p:cNvPr>
          <p:cNvSpPr/>
          <p:nvPr/>
        </p:nvSpPr>
        <p:spPr>
          <a:xfrm>
            <a:off x="800100" y="1308100"/>
            <a:ext cx="3429000" cy="3937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5AD20EF-4531-4497-87D5-FC36984D4129}"/>
              </a:ext>
            </a:extLst>
          </p:cNvPr>
          <p:cNvSpPr/>
          <p:nvPr/>
        </p:nvSpPr>
        <p:spPr>
          <a:xfrm>
            <a:off x="762000" y="1270000"/>
            <a:ext cx="3429000" cy="3937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78CC23-00D4-4BBF-9D30-C74D04E560E7}"/>
              </a:ext>
            </a:extLst>
          </p:cNvPr>
          <p:cNvSpPr/>
          <p:nvPr/>
        </p:nvSpPr>
        <p:spPr>
          <a:xfrm>
            <a:off x="762000" y="1397000"/>
            <a:ext cx="50800" cy="36830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CF5134-AD80-4640-A7FF-4090CAEA5045}"/>
              </a:ext>
            </a:extLst>
          </p:cNvPr>
          <p:cNvSpPr txBox="1"/>
          <p:nvPr/>
        </p:nvSpPr>
        <p:spPr>
          <a:xfrm>
            <a:off x="1016000" y="1371600"/>
            <a:ext cx="50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400">
                <a:solidFill>
                  <a:srgbClr val="2E86C1"/>
                </a:solidFill>
                <a:latin typeface="Georgia"/>
              </a:rPr>
              <a:t>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4F0157-C6B1-4CF0-AFB0-831C977E25D8}"/>
              </a:ext>
            </a:extLst>
          </p:cNvPr>
          <p:cNvSpPr txBox="1"/>
          <p:nvPr/>
        </p:nvSpPr>
        <p:spPr>
          <a:xfrm>
            <a:off x="1016000" y="1968500"/>
            <a:ext cx="2921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A5568"/>
                </a:solidFill>
                <a:latin typeface="Source Sans Pro"/>
                <a:ea typeface="Source Sans Pro"/>
              </a:rPr>
              <a:t>“ACME Labs transformed our R&amp;D pipeline. Their approach to innovation is unmatched.”</a:t>
            </a:r>
            <a:endParaRPr lang="en-GB" sz="1400" i="1">
              <a:solidFill>
                <a:srgbClr val="4A5568"/>
              </a:solidFill>
              <a:latin typeface="Source Sans Pro"/>
              <a:ea typeface="Source Sans Pro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75A5FF-CE19-4F29-AA44-122C7A86CB1B}"/>
              </a:ext>
            </a:extLst>
          </p:cNvPr>
          <p:cNvSpPr/>
          <p:nvPr/>
        </p:nvSpPr>
        <p:spPr>
          <a:xfrm>
            <a:off x="1016000" y="3619500"/>
            <a:ext cx="2921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7C72355-E448-46D3-8430-3D66F955488F}"/>
              </a:ext>
            </a:extLst>
          </p:cNvPr>
          <p:cNvSpPr/>
          <p:nvPr/>
        </p:nvSpPr>
        <p:spPr>
          <a:xfrm>
            <a:off x="1016000" y="3810000"/>
            <a:ext cx="609600" cy="609600"/>
          </a:xfrm>
          <a:prstGeom prst="ellipse">
            <a:avLst/>
          </a:prstGeom>
          <a:solidFill>
            <a:srgbClr val="2E86C1">
              <a:alpha val="2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2E86C1"/>
                </a:solidFill>
                <a:latin typeface="Poppins"/>
                <a:cs typeface="Poppins"/>
              </a:rPr>
              <a:t>SC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FAA0BF-A40E-4185-A57B-E09429AA97F9}"/>
              </a:ext>
            </a:extLst>
          </p:cNvPr>
          <p:cNvSpPr txBox="1"/>
          <p:nvPr/>
        </p:nvSpPr>
        <p:spPr>
          <a:xfrm>
            <a:off x="1752600" y="3810000"/>
            <a:ext cx="2159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2332"/>
                </a:solidFill>
                <a:latin typeface="Poppins"/>
                <a:cs typeface="Poppins"/>
              </a:rPr>
              <a:t>Sarah Chen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9115D7-095B-4C60-96B9-D268EDB671F2}"/>
              </a:ext>
            </a:extLst>
          </p:cNvPr>
          <p:cNvSpPr txBox="1"/>
          <p:nvPr/>
        </p:nvSpPr>
        <p:spPr>
          <a:xfrm>
            <a:off x="1752600" y="41275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B8DA0"/>
                </a:solidFill>
                <a:latin typeface="Source Sans Pro"/>
                <a:ea typeface="Source Sans Pro"/>
              </a:rPr>
              <a:t>VP of Innovation, TechCorp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E805021-6C04-4C8D-8D83-1D0022E4BE6E}"/>
              </a:ext>
            </a:extLst>
          </p:cNvPr>
          <p:cNvSpPr/>
          <p:nvPr/>
        </p:nvSpPr>
        <p:spPr>
          <a:xfrm>
            <a:off x="4508500" y="1308100"/>
            <a:ext cx="3429000" cy="3937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82E5773-9D41-461A-81FB-A2C73EFFAFA4}"/>
              </a:ext>
            </a:extLst>
          </p:cNvPr>
          <p:cNvSpPr/>
          <p:nvPr/>
        </p:nvSpPr>
        <p:spPr>
          <a:xfrm>
            <a:off x="4470400" y="1270000"/>
            <a:ext cx="3429000" cy="3937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03FD9D-6AD4-43B2-861B-85978D528BB6}"/>
              </a:ext>
            </a:extLst>
          </p:cNvPr>
          <p:cNvSpPr/>
          <p:nvPr/>
        </p:nvSpPr>
        <p:spPr>
          <a:xfrm>
            <a:off x="4470400" y="1397000"/>
            <a:ext cx="50800" cy="3683000"/>
          </a:xfrm>
          <a:prstGeom prst="rect">
            <a:avLst/>
          </a:prstGeom>
          <a:solidFill>
            <a:srgbClr val="0ABD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5FCF4C-C8D5-4F0D-A73C-EABCBFD745B6}"/>
              </a:ext>
            </a:extLst>
          </p:cNvPr>
          <p:cNvSpPr txBox="1"/>
          <p:nvPr/>
        </p:nvSpPr>
        <p:spPr>
          <a:xfrm>
            <a:off x="4724400" y="1371600"/>
            <a:ext cx="50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400">
                <a:solidFill>
                  <a:srgbClr val="0ABDA0"/>
                </a:solidFill>
                <a:latin typeface="Georgia"/>
              </a:rPr>
              <a:t>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49482A-6D9A-4F0A-B29A-C01EE075A278}"/>
              </a:ext>
            </a:extLst>
          </p:cNvPr>
          <p:cNvSpPr txBox="1"/>
          <p:nvPr/>
        </p:nvSpPr>
        <p:spPr>
          <a:xfrm>
            <a:off x="4724400" y="1968500"/>
            <a:ext cx="2921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A5568"/>
                </a:solidFill>
                <a:latin typeface="Source Sans Pro"/>
                <a:ea typeface="Source Sans Pro"/>
              </a:rPr>
              <a:t>“Working with ACME gave us a 3x improvement in our product development cycle.”</a:t>
            </a:r>
            <a:endParaRPr lang="en-GB" sz="1400" i="1">
              <a:solidFill>
                <a:srgbClr val="4A5568"/>
              </a:solidFill>
              <a:latin typeface="Source Sans Pro"/>
              <a:ea typeface="Source Sans Pro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C3B489-A26B-43C9-8B03-C04D6B9DCE61}"/>
              </a:ext>
            </a:extLst>
          </p:cNvPr>
          <p:cNvSpPr/>
          <p:nvPr/>
        </p:nvSpPr>
        <p:spPr>
          <a:xfrm>
            <a:off x="4724400" y="3619500"/>
            <a:ext cx="2921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64BC98D-CC21-4D9C-8A70-77D2323C23B1}"/>
              </a:ext>
            </a:extLst>
          </p:cNvPr>
          <p:cNvSpPr/>
          <p:nvPr/>
        </p:nvSpPr>
        <p:spPr>
          <a:xfrm>
            <a:off x="4724400" y="3810000"/>
            <a:ext cx="609600" cy="609600"/>
          </a:xfrm>
          <a:prstGeom prst="ellipse">
            <a:avLst/>
          </a:prstGeom>
          <a:solidFill>
            <a:srgbClr val="0ABDA0">
              <a:alpha val="2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0ABDA0"/>
                </a:solidFill>
                <a:latin typeface="Poppins"/>
                <a:cs typeface="Poppins"/>
              </a:rPr>
              <a:t>JR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48F248-11AC-437F-9EC0-5F861DDCC4EB}"/>
              </a:ext>
            </a:extLst>
          </p:cNvPr>
          <p:cNvSpPr txBox="1"/>
          <p:nvPr/>
        </p:nvSpPr>
        <p:spPr>
          <a:xfrm>
            <a:off x="5461000" y="3810000"/>
            <a:ext cx="2159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2332"/>
                </a:solidFill>
                <a:latin typeface="Poppins"/>
                <a:cs typeface="Poppins"/>
              </a:rPr>
              <a:t>James Rodriguez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CFA863-152A-445E-A70C-7D722DBCE93F}"/>
              </a:ext>
            </a:extLst>
          </p:cNvPr>
          <p:cNvSpPr txBox="1"/>
          <p:nvPr/>
        </p:nvSpPr>
        <p:spPr>
          <a:xfrm>
            <a:off x="5461000" y="41275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B8DA0"/>
                </a:solidFill>
                <a:latin typeface="Source Sans Pro"/>
                <a:ea typeface="Source Sans Pro"/>
              </a:rPr>
              <a:t>CTO, BioGenix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E90C9B4-8AAE-44B6-9C52-ACD97182AF2A}"/>
              </a:ext>
            </a:extLst>
          </p:cNvPr>
          <p:cNvSpPr/>
          <p:nvPr/>
        </p:nvSpPr>
        <p:spPr>
          <a:xfrm>
            <a:off x="8216900" y="1308100"/>
            <a:ext cx="3429000" cy="3937000"/>
          </a:xfrm>
          <a:prstGeom prst="roundRect">
            <a:avLst/>
          </a:prstGeom>
          <a:solidFill>
            <a:srgbClr val="E8EE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0E024AB-686A-4ABC-8787-C02A185BE9C9}"/>
              </a:ext>
            </a:extLst>
          </p:cNvPr>
          <p:cNvSpPr/>
          <p:nvPr/>
        </p:nvSpPr>
        <p:spPr>
          <a:xfrm>
            <a:off x="8178800" y="1270000"/>
            <a:ext cx="3429000" cy="3937000"/>
          </a:xfrm>
          <a:prstGeom prst="roundRect">
            <a:avLst/>
          </a:prstGeom>
          <a:solidFill>
            <a:srgbClr val="F8FA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BC45906-75DA-4362-A729-5B84A543F283}"/>
              </a:ext>
            </a:extLst>
          </p:cNvPr>
          <p:cNvSpPr/>
          <p:nvPr/>
        </p:nvSpPr>
        <p:spPr>
          <a:xfrm>
            <a:off x="8178800" y="1397000"/>
            <a:ext cx="50800" cy="3683000"/>
          </a:xfrm>
          <a:prstGeom prst="rect">
            <a:avLst/>
          </a:prstGeom>
          <a:solidFill>
            <a:srgbClr val="6C5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7102BF-2463-4D21-B862-79BA338AF90F}"/>
              </a:ext>
            </a:extLst>
          </p:cNvPr>
          <p:cNvSpPr txBox="1"/>
          <p:nvPr/>
        </p:nvSpPr>
        <p:spPr>
          <a:xfrm>
            <a:off x="8432800" y="1371600"/>
            <a:ext cx="50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400">
                <a:solidFill>
                  <a:srgbClr val="6C5CE7"/>
                </a:solidFill>
                <a:latin typeface="Georgia"/>
              </a:rPr>
              <a:t>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57B4B2-8FAB-4C44-8EFC-8149F6A3DE3E}"/>
              </a:ext>
            </a:extLst>
          </p:cNvPr>
          <p:cNvSpPr txBox="1"/>
          <p:nvPr/>
        </p:nvSpPr>
        <p:spPr>
          <a:xfrm>
            <a:off x="8432800" y="1968500"/>
            <a:ext cx="2921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A5568"/>
                </a:solidFill>
                <a:latin typeface="Source Sans Pro"/>
                <a:ea typeface="Source Sans Pro"/>
              </a:rPr>
              <a:t>“Their team’s expertise made all the difference for our product launch.”</a:t>
            </a:r>
            <a:endParaRPr lang="en-GB" sz="1400" i="1">
              <a:solidFill>
                <a:srgbClr val="4A5568"/>
              </a:solidFill>
              <a:latin typeface="Source Sans Pro"/>
              <a:ea typeface="Source Sans Pro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35D903-CA66-43AC-AEA9-9FE146CCC9E7}"/>
              </a:ext>
            </a:extLst>
          </p:cNvPr>
          <p:cNvSpPr/>
          <p:nvPr/>
        </p:nvSpPr>
        <p:spPr>
          <a:xfrm>
            <a:off x="8432800" y="3619500"/>
            <a:ext cx="2921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98FA642-CF3F-4941-9D36-3E3709711873}"/>
              </a:ext>
            </a:extLst>
          </p:cNvPr>
          <p:cNvSpPr/>
          <p:nvPr/>
        </p:nvSpPr>
        <p:spPr>
          <a:xfrm>
            <a:off x="8432800" y="3810000"/>
            <a:ext cx="609600" cy="609600"/>
          </a:xfrm>
          <a:prstGeom prst="ellipse">
            <a:avLst/>
          </a:prstGeom>
          <a:solidFill>
            <a:srgbClr val="6C5CE7">
              <a:alpha val="2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6C5CE7"/>
                </a:solidFill>
                <a:latin typeface="Poppins"/>
                <a:cs typeface="Poppins"/>
              </a:rPr>
              <a:t>EW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F70E41-BC1E-4783-94EC-B80F7A55AC44}"/>
              </a:ext>
            </a:extLst>
          </p:cNvPr>
          <p:cNvSpPr txBox="1"/>
          <p:nvPr/>
        </p:nvSpPr>
        <p:spPr>
          <a:xfrm>
            <a:off x="9169400" y="3810000"/>
            <a:ext cx="2159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2332"/>
                </a:solidFill>
                <a:latin typeface="Poppins"/>
                <a:cs typeface="Poppins"/>
              </a:rPr>
              <a:t>Emily Watson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1C4955-D9C7-472F-ABB3-206D9B6291D4}"/>
              </a:ext>
            </a:extLst>
          </p:cNvPr>
          <p:cNvSpPr txBox="1"/>
          <p:nvPr/>
        </p:nvSpPr>
        <p:spPr>
          <a:xfrm>
            <a:off x="9169400" y="41275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B8DA0"/>
                </a:solidFill>
                <a:latin typeface="Source Sans Pro"/>
                <a:ea typeface="Source Sans Pro"/>
              </a:rPr>
              <a:t>CEO, NanoTech Solutions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8DFF872-BE94-2244-E108-8132DAAD9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0"/>
            <a:ext cx="1270000" cy="47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0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FAE41FE-3A0E-4E28-BDCC-FA3EBDC07400}"/>
              </a:ext>
            </a:extLst>
          </p:cNvPr>
          <p:cNvSpPr/>
          <p:nvPr/>
        </p:nvSpPr>
        <p:spPr>
          <a:xfrm>
            <a:off x="0" y="0"/>
            <a:ext cx="12192000" cy="35560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3F18C6-21A4-475A-8637-DDBFD09896B8}"/>
              </a:ext>
            </a:extLst>
          </p:cNvPr>
          <p:cNvSpPr/>
          <p:nvPr/>
        </p:nvSpPr>
        <p:spPr>
          <a:xfrm>
            <a:off x="8890000" y="-1016000"/>
            <a:ext cx="4445000" cy="4445000"/>
          </a:xfrm>
          <a:prstGeom prst="ellipse">
            <a:avLst/>
          </a:prstGeom>
          <a:solidFill>
            <a:srgbClr val="3B99D1">
              <a:alpha val="3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2B6F4C-3097-41DB-850E-FE1D2E1EA601}"/>
              </a:ext>
            </a:extLst>
          </p:cNvPr>
          <p:cNvSpPr txBox="1"/>
          <p:nvPr/>
        </p:nvSpPr>
        <p:spPr>
          <a:xfrm>
            <a:off x="2540000" y="635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000" b="1">
                <a:solidFill>
                  <a:srgbClr val="FFFFFF"/>
                </a:solidFill>
                <a:latin typeface="Poppins"/>
                <a:cs typeface="Poppins"/>
              </a:rPr>
              <a:t>Let’s Work Together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6FD154-649C-42D5-984C-1B9083D2E7A8}"/>
              </a:ext>
            </a:extLst>
          </p:cNvPr>
          <p:cNvSpPr txBox="1"/>
          <p:nvPr/>
        </p:nvSpPr>
        <p:spPr>
          <a:xfrm>
            <a:off x="2921000" y="1460500"/>
            <a:ext cx="6350000" cy="698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D4EAF7"/>
                </a:solidFill>
                <a:latin typeface="Source Sans Pro"/>
                <a:ea typeface="Source Sans Pro"/>
              </a:rPr>
              <a:t>Ready to create something out of nothing?
Get in touch with our team today.</a:t>
            </a:r>
            <a:endParaRPr lang="en-GB" sz="1600">
              <a:solidFill>
                <a:srgbClr val="D4EAF7"/>
              </a:solidFill>
              <a:latin typeface="Source Sans Pro"/>
              <a:ea typeface="Source Sans Pro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860048-B1AB-44D3-A068-721E25160703}"/>
              </a:ext>
            </a:extLst>
          </p:cNvPr>
          <p:cNvSpPr/>
          <p:nvPr/>
        </p:nvSpPr>
        <p:spPr>
          <a:xfrm>
            <a:off x="4826000" y="2476500"/>
            <a:ext cx="2540000" cy="60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2E86C1"/>
                </a:solidFill>
                <a:latin typeface="Poppins"/>
                <a:cs typeface="Poppins"/>
              </a:rPr>
              <a:t>Contact Us →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4A1C30-1E5C-4A9E-8E0B-497A57ACEE16}"/>
              </a:ext>
            </a:extLst>
          </p:cNvPr>
          <p:cNvSpPr/>
          <p:nvPr/>
        </p:nvSpPr>
        <p:spPr>
          <a:xfrm>
            <a:off x="1752600" y="4064000"/>
            <a:ext cx="558800" cy="558800"/>
          </a:xfrm>
          <a:prstGeom prst="ellipse">
            <a:avLst/>
          </a:prstGeom>
          <a:solidFill>
            <a:srgbClr val="EBF2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225207-9A6B-404C-8AC0-C0933511ED38}"/>
              </a:ext>
            </a:extLst>
          </p:cNvPr>
          <p:cNvSpPr txBox="1"/>
          <p:nvPr/>
        </p:nvSpPr>
        <p:spPr>
          <a:xfrm>
            <a:off x="762000" y="47625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4A5568"/>
                </a:solidFill>
                <a:latin typeface="Source Sans Pro"/>
                <a:ea typeface="Source Sans Pro"/>
              </a:rPr>
              <a:t>info@acmelabs.com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607B5F4-A401-47E3-8126-F2491BB6534E}"/>
              </a:ext>
            </a:extLst>
          </p:cNvPr>
          <p:cNvSpPr/>
          <p:nvPr/>
        </p:nvSpPr>
        <p:spPr>
          <a:xfrm>
            <a:off x="5816600" y="4064000"/>
            <a:ext cx="558800" cy="558800"/>
          </a:xfrm>
          <a:prstGeom prst="ellipse">
            <a:avLst/>
          </a:prstGeom>
          <a:solidFill>
            <a:srgbClr val="EBF2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BC524A-E080-4FDE-82BF-99475AB0C793}"/>
              </a:ext>
            </a:extLst>
          </p:cNvPr>
          <p:cNvSpPr txBox="1"/>
          <p:nvPr/>
        </p:nvSpPr>
        <p:spPr>
          <a:xfrm>
            <a:off x="4826000" y="47625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4A5568"/>
                </a:solidFill>
                <a:latin typeface="Source Sans Pro"/>
                <a:ea typeface="Source Sans Pro"/>
              </a:rPr>
              <a:t>+1 (555) 123-4567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7216AA-690E-4F5A-889F-3F7D3A2C89E8}"/>
              </a:ext>
            </a:extLst>
          </p:cNvPr>
          <p:cNvSpPr/>
          <p:nvPr/>
        </p:nvSpPr>
        <p:spPr>
          <a:xfrm>
            <a:off x="9880600" y="4064000"/>
            <a:ext cx="558800" cy="558800"/>
          </a:xfrm>
          <a:prstGeom prst="ellipse">
            <a:avLst/>
          </a:prstGeom>
          <a:solidFill>
            <a:srgbClr val="EBF2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C3F344-DD3D-427A-AACF-8AE20B7B6F42}"/>
              </a:ext>
            </a:extLst>
          </p:cNvPr>
          <p:cNvSpPr txBox="1"/>
          <p:nvPr/>
        </p:nvSpPr>
        <p:spPr>
          <a:xfrm>
            <a:off x="8890000" y="47625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4A5568"/>
                </a:solidFill>
                <a:latin typeface="Source Sans Pro"/>
                <a:ea typeface="Source Sans Pro"/>
              </a:rPr>
              <a:t>www.acmelabs.com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484222B-0476-09A3-B8F5-B77E3FDA1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5334000"/>
            <a:ext cx="2540000" cy="944553"/>
          </a:xfrm>
          <a:prstGeom prst="rect">
            <a:avLst/>
          </a:prstGeom>
        </p:spPr>
      </p:pic>
      <p:pic>
        <p:nvPicPr>
          <p:cNvPr id="30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9600" y="4191000"/>
            <a:ext cx="304800" cy="304800"/>
          </a:xfrm>
          <a:prstGeom prst="rect">
            <a:avLst/>
          </a:prstGeom>
        </p:spPr>
      </p:pic>
      <p:pic>
        <p:nvPicPr>
          <p:cNvPr id="31" name="Graphic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4191000"/>
            <a:ext cx="304800" cy="304800"/>
          </a:xfrm>
          <a:prstGeom prst="rect">
            <a:avLst/>
          </a:prstGeom>
        </p:spPr>
      </p:pic>
      <p:pic>
        <p:nvPicPr>
          <p:cNvPr id="32" name="Graphic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07600" y="4191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0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382107046]">
  <a:themeElements>
    <a:clrScheme name="ACME Premium Light">
      <a:dk1>
        <a:srgbClr val="1A2332"/>
      </a:dk1>
      <a:lt1>
        <a:srgbClr val="FFFFFF"/>
      </a:lt1>
      <a:dk2>
        <a:srgbClr val="4A5568"/>
      </a:dk2>
      <a:lt2>
        <a:srgbClr val="F4F7FA"/>
      </a:lt2>
      <a:accent1>
        <a:srgbClr val="2E86C1"/>
      </a:accent1>
      <a:accent2>
        <a:srgbClr val="0ABDA0"/>
      </a:accent2>
      <a:accent3>
        <a:srgbClr val="6C5CE7"/>
      </a:accent3>
      <a:accent4>
        <a:srgbClr val="F59E0B"/>
      </a:accent4>
      <a:accent5>
        <a:srgbClr val="EBF2F8"/>
      </a:accent5>
      <a:accent6>
        <a:srgbClr val="1B4F72"/>
      </a:accent6>
      <a:hlink>
        <a:srgbClr val="467886"/>
      </a:hlink>
      <a:folHlink>
        <a:srgbClr val="96607D"/>
      </a:folHlink>
    </a:clrScheme>
    <a:fontScheme name="ACME Premium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70A95A-E25B-43A2-8800-90E5EB0C7E2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300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Georgia</vt:lpstr>
      <vt:lpstr>Poppins</vt:lpstr>
      <vt:lpstr>Source Sans Pro</vt:lpstr>
      <vt:lpstr>Office Theme [1774382107046]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ids achterhof</dc:creator>
  <cp:lastModifiedBy>ids achterhof</cp:lastModifiedBy>
  <cp:revision>3</cp:revision>
  <dcterms:created xsi:type="dcterms:W3CDTF">2026-03-24T19:28:04Z</dcterms:created>
  <dcterms:modified xsi:type="dcterms:W3CDTF">2026-03-24T20:01:20Z</dcterms:modified>
</cp:coreProperties>
</file>